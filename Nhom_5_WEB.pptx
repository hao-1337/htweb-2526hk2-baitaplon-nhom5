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85" r:id="rId5"/>
    <p:sldId id="257" r:id="rId6"/>
    <p:sldId id="287" r:id="rId7"/>
    <p:sldId id="288" r:id="rId8"/>
    <p:sldId id="289" r:id="rId9"/>
    <p:sldId id="290" r:id="rId10"/>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19"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155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100" d="100"/>
          <a:sy n="100" d="100"/>
        </p:scale>
        <p:origin x="1834" y="67"/>
      </p:cViewPr>
      <p:guideLst>
        <p:guide orient="horz" pos="1619"/>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3" Type="http://schemas.openxmlformats.org/officeDocument/2006/relationships/tableStyles" Target="tableStyles.xml"/><Relationship Id="rId12" Type="http://schemas.openxmlformats.org/officeDocument/2006/relationships/viewProps" Target="viewProps.xml"/><Relationship Id="rId11" Type="http://schemas.openxmlformats.org/officeDocument/2006/relationships/presProps" Target="presProps.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30"/>
        <p:cNvGrpSpPr/>
        <p:nvPr/>
      </p:nvGrpSpPr>
      <p:grpSpPr>
        <a:xfrm>
          <a:off x="0" y="0"/>
          <a:ext cx="0" cy="0"/>
          <a:chOff x="0" y="0"/>
          <a:chExt cx="0" cy="0"/>
        </a:xfrm>
      </p:grpSpPr>
      <p:sp>
        <p:nvSpPr>
          <p:cNvPr id="131" name="Google Shape;13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30"/>
        <p:cNvGrpSpPr/>
        <p:nvPr/>
      </p:nvGrpSpPr>
      <p:grpSpPr>
        <a:xfrm>
          <a:off x="0" y="0"/>
          <a:ext cx="0" cy="0"/>
          <a:chOff x="0" y="0"/>
          <a:chExt cx="0" cy="0"/>
        </a:xfrm>
      </p:grpSpPr>
      <p:sp>
        <p:nvSpPr>
          <p:cNvPr id="131" name="Google Shape;13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37"/>
        <p:cNvGrpSpPr/>
        <p:nvPr/>
      </p:nvGrpSpPr>
      <p:grpSpPr>
        <a:xfrm>
          <a:off x="0" y="0"/>
          <a:ext cx="0" cy="0"/>
          <a:chOff x="0" y="0"/>
          <a:chExt cx="0" cy="0"/>
        </a:xfrm>
      </p:grpSpPr>
      <p:sp>
        <p:nvSpPr>
          <p:cNvPr id="138" name="Google Shape;138;g3da2165d406_0_27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3da2165d406_0_27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37"/>
        <p:cNvGrpSpPr/>
        <p:nvPr/>
      </p:nvGrpSpPr>
      <p:grpSpPr>
        <a:xfrm>
          <a:off x="0" y="0"/>
          <a:ext cx="0" cy="0"/>
          <a:chOff x="0" y="0"/>
          <a:chExt cx="0" cy="0"/>
        </a:xfrm>
      </p:grpSpPr>
      <p:sp>
        <p:nvSpPr>
          <p:cNvPr id="138" name="Google Shape;138;g3da2165d406_0_27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3da2165d406_0_27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37"/>
        <p:cNvGrpSpPr/>
        <p:nvPr/>
      </p:nvGrpSpPr>
      <p:grpSpPr>
        <a:xfrm>
          <a:off x="0" y="0"/>
          <a:ext cx="0" cy="0"/>
          <a:chOff x="0" y="0"/>
          <a:chExt cx="0" cy="0"/>
        </a:xfrm>
      </p:grpSpPr>
      <p:sp>
        <p:nvSpPr>
          <p:cNvPr id="138" name="Google Shape;138;g3da2165d406_0_27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3da2165d406_0_27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37"/>
        <p:cNvGrpSpPr/>
        <p:nvPr/>
      </p:nvGrpSpPr>
      <p:grpSpPr>
        <a:xfrm>
          <a:off x="0" y="0"/>
          <a:ext cx="0" cy="0"/>
          <a:chOff x="0" y="0"/>
          <a:chExt cx="0" cy="0"/>
        </a:xfrm>
      </p:grpSpPr>
      <p:sp>
        <p:nvSpPr>
          <p:cNvPr id="138" name="Google Shape;138;g3da2165d406_0_27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3da2165d406_0_27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37"/>
        <p:cNvGrpSpPr/>
        <p:nvPr/>
      </p:nvGrpSpPr>
      <p:grpSpPr>
        <a:xfrm>
          <a:off x="0" y="0"/>
          <a:ext cx="0" cy="0"/>
          <a:chOff x="0" y="0"/>
          <a:chExt cx="0" cy="0"/>
        </a:xfrm>
      </p:grpSpPr>
      <p:sp>
        <p:nvSpPr>
          <p:cNvPr id="138" name="Google Shape;138;g3da2165d406_0_27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3da2165d406_0_27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US"/>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F1F6629-F5FD-422B-A222-E9DBAF0EEAD1}"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p159:morph option="byObject"/>
      </p:transition>
    </mc:Choice>
    <mc:Fallback>
      <p:transition>
        <p:fade/>
      </p:transition>
    </mc:Fallback>
  </mc:AlternateContent>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F1F6629-F5FD-422B-A222-E9DBAF0EEAD1}"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p159:morph option="byObject"/>
      </p:transition>
    </mc:Choice>
    <mc:Fallback>
      <p:transition>
        <p:fade/>
      </p:transition>
    </mc:Fallback>
  </mc:AlternateContent>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US"/>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F1F6629-F5FD-422B-A222-E9DBAF0EEAD1}"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p159:morph option="byObject"/>
      </p:transition>
    </mc:Choice>
    <mc:Fallback>
      <p:transition>
        <p:fade/>
      </p:transition>
    </mc:Fallback>
  </mc:AlternateContent>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628650" y="1369219"/>
            <a:ext cx="3886200" cy="3263504"/>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29150" y="1369219"/>
            <a:ext cx="3886200" cy="3263504"/>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F1F6629-F5FD-422B-A222-E9DBAF0EEAD1}"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p159:morph option="byObject"/>
      </p:transition>
    </mc:Choice>
    <mc:Fallback>
      <p:transition>
        <p:fade/>
      </p:transition>
    </mc:Fallback>
  </mc:AlternateContent>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endParaRPr lang="en-US"/>
          </a:p>
        </p:txBody>
      </p:sp>
      <p:sp>
        <p:nvSpPr>
          <p:cNvPr id="4" name="Content Placeholder 3"/>
          <p:cNvSpPr>
            <a:spLocks noGrp="1"/>
          </p:cNvSpPr>
          <p:nvPr>
            <p:ph sz="half" idx="2"/>
          </p:nvPr>
        </p:nvSpPr>
        <p:spPr>
          <a:xfrm>
            <a:off x="629842" y="1878806"/>
            <a:ext cx="3868340" cy="2763441"/>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endParaRPr lang="en-US"/>
          </a:p>
        </p:txBody>
      </p:sp>
      <p:sp>
        <p:nvSpPr>
          <p:cNvPr id="6" name="Content Placeholder 5"/>
          <p:cNvSpPr>
            <a:spLocks noGrp="1"/>
          </p:cNvSpPr>
          <p:nvPr>
            <p:ph sz="quarter" idx="4"/>
          </p:nvPr>
        </p:nvSpPr>
        <p:spPr>
          <a:xfrm>
            <a:off x="4629150" y="1878806"/>
            <a:ext cx="3887391" cy="2763441"/>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F1F6629-F5FD-422B-A222-E9DBAF0EEAD1}"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p159:morph option="byObject"/>
      </p:transition>
    </mc:Choice>
    <mc:Fallback>
      <p:transition>
        <p:fade/>
      </p:transition>
    </mc:Fallback>
  </mc:AlternateContent>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F1F6629-F5FD-422B-A222-E9DBAF0EEAD1}"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p159:morph option="byObject"/>
      </p:transition>
    </mc:Choice>
    <mc:Fallback>
      <p:transition>
        <p:fade/>
      </p:transition>
    </mc:Fallback>
  </mc:AlternateContent>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F1F6629-F5FD-422B-A222-E9DBAF0EEAD1}"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p159:morph option="byObject"/>
      </p:transition>
    </mc:Choice>
    <mc:Fallback>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F1F6629-F5FD-422B-A222-E9DBAF0EEAD1}"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p159:morph option="byObject"/>
      </p:transition>
    </mc:Choice>
    <mc:Fallback>
      <p:transition>
        <p:fade/>
      </p:transition>
    </mc:Fallback>
  </mc:AlternateContent>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a:p>
        </p:txBody>
      </p:sp>
      <p:sp>
        <p:nvSpPr>
          <p:cNvPr id="3" name="Picture Placeholder 2"/>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F1F6629-F5FD-422B-A222-E9DBAF0EEAD1}"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p159:morph option="byObject"/>
      </p:transition>
    </mc:Choice>
    <mc:Fallback>
      <p:transition>
        <p:fade/>
      </p:transition>
    </mc:Fallback>
  </mc:AlternateContent>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F1F6629-F5FD-422B-A222-E9DBAF0EEAD1}"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p159:morph option="byObject"/>
      </p:transition>
    </mc:Choice>
    <mc:Fallback>
      <p:transition>
        <p:fade/>
      </p:transition>
    </mc:Fallback>
  </mc:AlternateContent>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F1F6629-F5FD-422B-A222-E9DBAF0EEAD1}"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p159:morph option="byObject"/>
      </p:transition>
    </mc:Choice>
    <mc:Fallback>
      <p:transition>
        <p:fade/>
      </p:transition>
    </mc:Fallback>
  </mc:AlternateContent>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x" matchingName="Title and body">
  <p:cSld name="Title and body">
    <p:spTree>
      <p:nvGrpSpPr>
        <p:cNvPr id="1" name="Shape 41"/>
        <p:cNvGrpSpPr/>
        <p:nvPr/>
      </p:nvGrpSpPr>
      <p:grpSpPr>
        <a:xfrm>
          <a:off x="0" y="0"/>
          <a:ext cx="0" cy="0"/>
          <a:chOff x="0" y="0"/>
          <a:chExt cx="0" cy="0"/>
        </a:xfrm>
      </p:grpSpPr>
      <p:sp>
        <p:nvSpPr>
          <p:cNvPr id="45" name="Google Shape;45;p4"/>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4"/>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47" name="Google Shape;47;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p159:morph option="byObject"/>
      </p:transition>
    </mc:Choice>
    <mc:Fallback>
      <p:transition>
        <p:fade/>
      </p:transition>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82000"/>
                  </a:schemeClr>
                </a:solidFill>
              </a:defRPr>
            </a:lvl1pPr>
          </a:lstStyle>
          <a:p>
            <a:fld id="{5F1F6629-F5FD-422B-A222-E9DBAF0EEAD1}" type="datetimeFigureOut">
              <a:rPr lang="en-US" smtClean="0"/>
            </a:fld>
            <a:endParaRPr lang="en-US"/>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82000"/>
                  </a:schemeClr>
                </a:solidFill>
              </a:defRPr>
            </a:lvl1pPr>
          </a:lstStyle>
          <a:p>
            <a:pPr marL="0" lvl="0" indent="0" algn="r" rtl="0">
              <a:spcBef>
                <a:spcPts val="0"/>
              </a:spcBef>
              <a:spcAft>
                <a:spcPts val="0"/>
              </a:spcAft>
              <a:buNone/>
            </a:pPr>
            <a:fld id="{00000000-1234-1234-1234-123412341234}"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mc:AlternateContent xmlns:mc="http://schemas.openxmlformats.org/markup-compatibility/2006" xmlns:p159="http://schemas.microsoft.com/office/powerpoint/2015/09/main">
    <mc:Choice Requires="p159">
      <p:transition xmlns:p14="http://schemas.microsoft.com/office/powerpoint/2010/main">
        <p159:morph option="byObject"/>
      </p:transition>
    </mc:Choice>
    <mc:Fallback>
      <p:transition>
        <p:fade/>
      </p:transition>
    </mc:Fallback>
  </mc:AlternateConten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2.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2.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2.xml"/><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2.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6" Type="http://schemas.openxmlformats.org/officeDocument/2006/relationships/notesSlide" Target="../notesSlides/notesSlide7.xml"/><Relationship Id="rId5" Type="http://schemas.openxmlformats.org/officeDocument/2006/relationships/slideLayout" Target="../slideLayouts/slideLayout12.xml"/><Relationship Id="rId4" Type="http://schemas.openxmlformats.org/officeDocument/2006/relationships/hyperlink" Target="https://btl.hao1337.com/index.html" TargetMode="External"/><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Shape 133"/>
        <p:cNvGrpSpPr/>
        <p:nvPr/>
      </p:nvGrpSpPr>
      <p:grpSpPr>
        <a:xfrm>
          <a:off x="0" y="0"/>
          <a:ext cx="0" cy="0"/>
          <a:chOff x="0" y="0"/>
          <a:chExt cx="0" cy="0"/>
        </a:xfrm>
      </p:grpSpPr>
      <p:grpSp>
        <p:nvGrpSpPr>
          <p:cNvPr id="5" name="Group 4"/>
          <p:cNvGrpSpPr/>
          <p:nvPr/>
        </p:nvGrpSpPr>
        <p:grpSpPr>
          <a:xfrm>
            <a:off x="125665" y="4142799"/>
            <a:ext cx="4111800" cy="897300"/>
            <a:chOff x="121014" y="3109453"/>
            <a:chExt cx="4111800" cy="897300"/>
          </a:xfrm>
        </p:grpSpPr>
        <p:sp>
          <p:nvSpPr>
            <p:cNvPr id="134" name="Google Shape;134;p13"/>
            <p:cNvSpPr txBox="1"/>
            <p:nvPr/>
          </p:nvSpPr>
          <p:spPr>
            <a:xfrm>
              <a:off x="121014" y="3109453"/>
              <a:ext cx="4111800" cy="478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800" b="1">
                  <a:solidFill>
                    <a:schemeClr val="lt1"/>
                  </a:solidFill>
                  <a:latin typeface="Times New Roman" panose="02020603050405020304"/>
                  <a:ea typeface="Times New Roman" panose="02020603050405020304"/>
                  <a:cs typeface="Times New Roman" panose="02020603050405020304"/>
                  <a:sym typeface="Times New Roman" panose="02020603050405020304"/>
                </a:rPr>
                <a:t>Bài Thuyết trình môn HT&amp;CN Web</a:t>
              </a:r>
              <a:endParaRPr sz="1800" b="1">
                <a:solidFill>
                  <a:schemeClr val="lt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35" name="Google Shape;135;p13"/>
            <p:cNvSpPr txBox="1"/>
            <p:nvPr/>
          </p:nvSpPr>
          <p:spPr>
            <a:xfrm>
              <a:off x="121014" y="3587953"/>
              <a:ext cx="4111800" cy="41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050" b="1">
                  <a:solidFill>
                    <a:schemeClr val="lt1"/>
                  </a:solidFill>
                  <a:latin typeface="Times New Roman" panose="02020603050405020304"/>
                  <a:ea typeface="Times New Roman" panose="02020603050405020304"/>
                  <a:cs typeface="Times New Roman" panose="02020603050405020304"/>
                  <a:sym typeface="Times New Roman" panose="02020603050405020304"/>
                </a:rPr>
                <a:t>Giảng Viên Hướng Dẫn:Phạm Thanh Tùng</a:t>
              </a:r>
              <a:endParaRPr lang="en-US" sz="1050" b="1">
                <a:solidFill>
                  <a:schemeClr val="lt1"/>
                </a:solidFill>
                <a:latin typeface="Times New Roman" panose="02020603050405020304"/>
                <a:ea typeface="Times New Roman" panose="02020603050405020304"/>
                <a:cs typeface="Times New Roman" panose="02020603050405020304"/>
                <a:sym typeface="Times New Roman" panose="02020603050405020304"/>
              </a:endParaRPr>
            </a:p>
            <a:p>
              <a:pPr marL="0" lvl="0" indent="0" algn="l" rtl="0">
                <a:spcBef>
                  <a:spcPts val="0"/>
                </a:spcBef>
                <a:spcAft>
                  <a:spcPts val="0"/>
                </a:spcAft>
                <a:buNone/>
              </a:pPr>
              <a:endParaRPr sz="1050" b="1">
                <a:solidFill>
                  <a:schemeClr val="lt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3" name="Straight Connector 2"/>
            <p:cNvCxnSpPr/>
            <p:nvPr/>
          </p:nvCxnSpPr>
          <p:spPr>
            <a:xfrm>
              <a:off x="210223" y="3587953"/>
              <a:ext cx="3583975"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6" name="TextBox 5"/>
          <p:cNvSpPr txBox="1"/>
          <p:nvPr/>
        </p:nvSpPr>
        <p:spPr>
          <a:xfrm>
            <a:off x="3022914" y="1708737"/>
            <a:ext cx="6053624" cy="1200329"/>
          </a:xfrm>
          <a:prstGeom prst="rect">
            <a:avLst/>
          </a:prstGeom>
          <a:noFill/>
        </p:spPr>
        <p:txBody>
          <a:bodyPr wrap="square" rtlCol="0">
            <a:spAutoFit/>
          </a:bodyPr>
          <a:lstStyle/>
          <a:p>
            <a:pPr algn="ctr"/>
            <a:r>
              <a:rPr lang="en-US" sz="3600" b="1">
                <a:solidFill>
                  <a:schemeClr val="bg1"/>
                </a:solidFill>
                <a:latin typeface="Times New Roman" panose="02020603050405020304" pitchFamily="18" charset="0"/>
                <a:cs typeface="Times New Roman" panose="02020603050405020304" pitchFamily="18" charset="0"/>
              </a:rPr>
              <a:t>Đề Tài : Thiết Kế Và Xây Dựng Website Bán Loa</a:t>
            </a:r>
            <a:endParaRPr lang="en-US" sz="3600" b="1">
              <a:solidFill>
                <a:schemeClr val="bg1"/>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Shape 133"/>
        <p:cNvGrpSpPr/>
        <p:nvPr/>
      </p:nvGrpSpPr>
      <p:grpSpPr>
        <a:xfrm>
          <a:off x="0" y="0"/>
          <a:ext cx="0" cy="0"/>
          <a:chOff x="0" y="0"/>
          <a:chExt cx="0" cy="0"/>
        </a:xfrm>
      </p:grpSpPr>
      <p:grpSp>
        <p:nvGrpSpPr>
          <p:cNvPr id="5" name="Group 4"/>
          <p:cNvGrpSpPr/>
          <p:nvPr/>
        </p:nvGrpSpPr>
        <p:grpSpPr>
          <a:xfrm>
            <a:off x="-3768155" y="4154760"/>
            <a:ext cx="4111800" cy="897300"/>
            <a:chOff x="121014" y="3109453"/>
            <a:chExt cx="4111800" cy="897300"/>
          </a:xfrm>
        </p:grpSpPr>
        <p:sp>
          <p:nvSpPr>
            <p:cNvPr id="134" name="Google Shape;134;p13"/>
            <p:cNvSpPr txBox="1"/>
            <p:nvPr/>
          </p:nvSpPr>
          <p:spPr>
            <a:xfrm>
              <a:off x="121014" y="3109453"/>
              <a:ext cx="4111800" cy="478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800" b="1">
                  <a:solidFill>
                    <a:schemeClr val="lt1"/>
                  </a:solidFill>
                  <a:latin typeface="Times New Roman" panose="02020603050405020304"/>
                  <a:ea typeface="Times New Roman" panose="02020603050405020304"/>
                  <a:cs typeface="Times New Roman" panose="02020603050405020304"/>
                  <a:sym typeface="Times New Roman" panose="02020603050405020304"/>
                </a:rPr>
                <a:t>Bài Thuyết trình môn PLDC</a:t>
              </a:r>
              <a:endParaRPr sz="1800" b="1">
                <a:solidFill>
                  <a:schemeClr val="lt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35" name="Google Shape;135;p13"/>
            <p:cNvSpPr txBox="1"/>
            <p:nvPr/>
          </p:nvSpPr>
          <p:spPr>
            <a:xfrm>
              <a:off x="121014" y="3587953"/>
              <a:ext cx="4111800" cy="41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050" b="1">
                  <a:solidFill>
                    <a:schemeClr val="lt1"/>
                  </a:solidFill>
                  <a:latin typeface="Times New Roman" panose="02020603050405020304"/>
                  <a:ea typeface="Times New Roman" panose="02020603050405020304"/>
                  <a:cs typeface="Times New Roman" panose="02020603050405020304"/>
                  <a:sym typeface="Times New Roman" panose="02020603050405020304"/>
                </a:rPr>
                <a:t>Giảng Viên Hướng Dẫn: Nguyễn Thành Minh Chánh</a:t>
              </a:r>
              <a:endParaRPr lang="en-US" sz="1050" b="1">
                <a:solidFill>
                  <a:schemeClr val="lt1"/>
                </a:solidFill>
                <a:latin typeface="Times New Roman" panose="02020603050405020304"/>
                <a:ea typeface="Times New Roman" panose="02020603050405020304"/>
                <a:cs typeface="Times New Roman" panose="02020603050405020304"/>
                <a:sym typeface="Times New Roman" panose="02020603050405020304"/>
              </a:endParaRPr>
            </a:p>
            <a:p>
              <a:pPr marL="0" lvl="0" indent="0" algn="l" rtl="0">
                <a:spcBef>
                  <a:spcPts val="0"/>
                </a:spcBef>
                <a:spcAft>
                  <a:spcPts val="0"/>
                </a:spcAft>
                <a:buNone/>
              </a:pPr>
              <a:endParaRPr sz="1050" b="1">
                <a:solidFill>
                  <a:schemeClr val="lt1"/>
                </a:solidFill>
                <a:latin typeface="Times New Roman" panose="02020603050405020304"/>
                <a:ea typeface="Times New Roman" panose="02020603050405020304"/>
                <a:cs typeface="Times New Roman" panose="02020603050405020304"/>
                <a:sym typeface="Times New Roman" panose="02020603050405020304"/>
              </a:endParaRPr>
            </a:p>
          </p:txBody>
        </p:sp>
        <p:cxnSp>
          <p:nvCxnSpPr>
            <p:cNvPr id="3" name="Straight Connector 2"/>
            <p:cNvCxnSpPr/>
            <p:nvPr/>
          </p:nvCxnSpPr>
          <p:spPr>
            <a:xfrm>
              <a:off x="210223" y="3587953"/>
              <a:ext cx="313183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2" name="TextBox 1"/>
          <p:cNvSpPr txBox="1"/>
          <p:nvPr/>
        </p:nvSpPr>
        <p:spPr>
          <a:xfrm>
            <a:off x="2941320" y="1646290"/>
            <a:ext cx="4373880" cy="369332"/>
          </a:xfrm>
          <a:prstGeom prst="rect">
            <a:avLst/>
          </a:prstGeom>
          <a:noFill/>
        </p:spPr>
        <p:txBody>
          <a:bodyPr wrap="square" rtlCol="0">
            <a:spAutoFit/>
          </a:bodyPr>
          <a:lstStyle/>
          <a:p>
            <a:r>
              <a:rPr lang="en-US">
                <a:solidFill>
                  <a:schemeClr val="bg1"/>
                </a:solidFill>
                <a:latin typeface="Times New Roman" panose="02020603050405020304" pitchFamily="18" charset="0"/>
                <a:cs typeface="Times New Roman" panose="02020603050405020304" pitchFamily="18" charset="0"/>
              </a:rPr>
              <a:t>DANH SÁCH THÀNH VIÊN :</a:t>
            </a:r>
            <a:endParaRPr lang="en-US">
              <a:solidFill>
                <a:schemeClr val="bg1"/>
              </a:solidFill>
              <a:latin typeface="Times New Roman" panose="02020603050405020304" pitchFamily="18" charset="0"/>
              <a:cs typeface="Times New Roman" panose="02020603050405020304" pitchFamily="18" charset="0"/>
            </a:endParaRPr>
          </a:p>
        </p:txBody>
      </p:sp>
      <p:sp>
        <p:nvSpPr>
          <p:cNvPr id="4" name="TextBox 3"/>
          <p:cNvSpPr txBox="1"/>
          <p:nvPr/>
        </p:nvSpPr>
        <p:spPr>
          <a:xfrm>
            <a:off x="3310890" y="1927550"/>
            <a:ext cx="3634740" cy="1476375"/>
          </a:xfrm>
          <a:prstGeom prst="rect">
            <a:avLst/>
          </a:prstGeom>
          <a:noFill/>
        </p:spPr>
        <p:txBody>
          <a:bodyPr wrap="square" rtlCol="0">
            <a:spAutoFit/>
          </a:bodyPr>
          <a:lstStyle/>
          <a:p>
            <a:r>
              <a:rPr lang="en-US">
                <a:solidFill>
                  <a:schemeClr val="bg1"/>
                </a:solidFill>
                <a:latin typeface="Times New Roman" panose="02020603050405020304" pitchFamily="18" charset="0"/>
                <a:cs typeface="Times New Roman" panose="02020603050405020304" pitchFamily="18" charset="0"/>
              </a:rPr>
              <a:t>24652241 - Lê Văn Gia Bảo</a:t>
            </a:r>
            <a:endParaRPr lang="en-US">
              <a:solidFill>
                <a:schemeClr val="bg1"/>
              </a:solidFill>
              <a:latin typeface="Times New Roman" panose="02020603050405020304" pitchFamily="18" charset="0"/>
              <a:cs typeface="Times New Roman" panose="02020603050405020304" pitchFamily="18" charset="0"/>
            </a:endParaRPr>
          </a:p>
          <a:p>
            <a:r>
              <a:rPr lang="en-US">
                <a:solidFill>
                  <a:schemeClr val="bg1"/>
                </a:solidFill>
                <a:latin typeface="Times New Roman" panose="02020603050405020304" pitchFamily="18" charset="0"/>
                <a:cs typeface="Times New Roman" panose="02020603050405020304" pitchFamily="18" charset="0"/>
              </a:rPr>
              <a:t>24650021 - Vũ Quang Hào</a:t>
            </a:r>
            <a:endParaRPr lang="en-US">
              <a:solidFill>
                <a:schemeClr val="bg1"/>
              </a:solidFill>
              <a:latin typeface="Times New Roman" panose="02020603050405020304" pitchFamily="18" charset="0"/>
              <a:cs typeface="Times New Roman" panose="02020603050405020304" pitchFamily="18" charset="0"/>
            </a:endParaRPr>
          </a:p>
          <a:p>
            <a:r>
              <a:rPr lang="en-US">
                <a:solidFill>
                  <a:schemeClr val="bg1"/>
                </a:solidFill>
                <a:latin typeface="Times New Roman" panose="02020603050405020304" pitchFamily="18" charset="0"/>
                <a:cs typeface="Times New Roman" panose="02020603050405020304" pitchFamily="18" charset="0"/>
              </a:rPr>
              <a:t>24655751 - Tạ Tô Hầu Hân</a:t>
            </a:r>
            <a:endParaRPr lang="en-US">
              <a:solidFill>
                <a:schemeClr val="bg1"/>
              </a:solidFill>
              <a:latin typeface="Times New Roman" panose="02020603050405020304" pitchFamily="18" charset="0"/>
              <a:cs typeface="Times New Roman" panose="02020603050405020304" pitchFamily="18" charset="0"/>
            </a:endParaRPr>
          </a:p>
          <a:p>
            <a:r>
              <a:rPr lang="en-US">
                <a:solidFill>
                  <a:schemeClr val="bg1"/>
                </a:solidFill>
                <a:latin typeface="Times New Roman" panose="02020603050405020304" pitchFamily="18" charset="0"/>
                <a:cs typeface="Times New Roman" panose="02020603050405020304" pitchFamily="18" charset="0"/>
              </a:rPr>
              <a:t>24645481 - Nguyễn Đức Hậu</a:t>
            </a:r>
            <a:endParaRPr lang="en-US">
              <a:solidFill>
                <a:schemeClr val="bg1"/>
              </a:solidFill>
              <a:latin typeface="Times New Roman" panose="02020603050405020304" pitchFamily="18" charset="0"/>
              <a:cs typeface="Times New Roman" panose="02020603050405020304" pitchFamily="18" charset="0"/>
            </a:endParaRPr>
          </a:p>
          <a:p>
            <a:r>
              <a:rPr lang="vi-VN" altLang="en-US">
                <a:solidFill>
                  <a:schemeClr val="bg1"/>
                </a:solidFill>
                <a:latin typeface="Times New Roman" panose="02020603050405020304" pitchFamily="18" charset="0"/>
                <a:cs typeface="Times New Roman" panose="02020603050405020304" pitchFamily="18" charset="0"/>
              </a:rPr>
              <a:t>24747851</a:t>
            </a:r>
            <a:r>
              <a:rPr lang="en-US">
                <a:solidFill>
                  <a:schemeClr val="bg1"/>
                </a:solidFill>
                <a:latin typeface="Times New Roman" panose="02020603050405020304" pitchFamily="18" charset="0"/>
                <a:cs typeface="Times New Roman" panose="02020603050405020304" pitchFamily="18" charset="0"/>
              </a:rPr>
              <a:t> - Ng</a:t>
            </a:r>
            <a:r>
              <a:rPr lang="vi-VN" altLang="en-US">
                <a:solidFill>
                  <a:schemeClr val="bg1"/>
                </a:solidFill>
                <a:latin typeface="Times New Roman" panose="02020603050405020304" pitchFamily="18" charset="0"/>
                <a:cs typeface="Times New Roman" panose="02020603050405020304" pitchFamily="18" charset="0"/>
              </a:rPr>
              <a:t>uyễn Văn </a:t>
            </a:r>
            <a:r>
              <a:rPr lang="vi-VN" altLang="en-US">
                <a:solidFill>
                  <a:schemeClr val="bg1"/>
                </a:solidFill>
                <a:latin typeface="Times New Roman" panose="02020603050405020304" pitchFamily="18" charset="0"/>
                <a:cs typeface="Times New Roman" panose="02020603050405020304" pitchFamily="18" charset="0"/>
              </a:rPr>
              <a:t>Hòa</a:t>
            </a:r>
            <a:endParaRPr lang="vi-VN" altLang="en-US">
              <a:solidFill>
                <a:schemeClr val="bg1"/>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par>
                                <p:cTn id="8" presetID="22" presetClass="entr" presetSubtype="1" fill="hold" grpId="0" nodeType="withEffect">
                                  <p:stCondLst>
                                    <p:cond delay="25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pic>
        <p:nvPicPr>
          <p:cNvPr id="16" name="Picture 15" descr="A black rectangle with white text&#10;&#10;AI-generated content may be incorrect."/>
          <p:cNvPicPr>
            <a:picLocks noChangeAspect="1"/>
          </p:cNvPicPr>
          <p:nvPr/>
        </p:nvPicPr>
        <p:blipFill>
          <a:blip r:embed="rId1"/>
          <a:stretch>
            <a:fillRect/>
          </a:stretch>
        </p:blipFill>
        <p:spPr>
          <a:xfrm>
            <a:off x="0" y="0"/>
            <a:ext cx="9172404" cy="5143500"/>
          </a:xfrm>
          <a:prstGeom prst="rect">
            <a:avLst/>
          </a:prstGeom>
        </p:spPr>
      </p:pic>
      <p:sp>
        <p:nvSpPr>
          <p:cNvPr id="141" name="Google Shape;141;p14"/>
          <p:cNvSpPr txBox="1"/>
          <p:nvPr/>
        </p:nvSpPr>
        <p:spPr>
          <a:xfrm>
            <a:off x="0" y="405228"/>
            <a:ext cx="9144000" cy="605700"/>
          </a:xfrm>
          <a:prstGeom prst="rect">
            <a:avLst/>
          </a:prstGeom>
          <a:noFill/>
          <a:ln>
            <a:noFill/>
          </a:ln>
        </p:spPr>
        <p:txBody>
          <a:bodyPr spcFirstLastPara="1" wrap="square" lIns="91425" tIns="91425" rIns="91425" bIns="91425" anchor="t" anchorCtr="0">
            <a:noAutofit/>
          </a:bodyPr>
          <a:lstStyle/>
          <a:p>
            <a:pPr marL="457200" lvl="0" indent="-374650" algn="ctr" rtl="0">
              <a:spcBef>
                <a:spcPts val="0"/>
              </a:spcBef>
              <a:spcAft>
                <a:spcPts val="0"/>
              </a:spcAft>
              <a:buClr>
                <a:srgbClr val="1155CC"/>
              </a:buClr>
              <a:buSzPts val="2300"/>
              <a:buFont typeface="Times New Roman" panose="02020603050405020304"/>
              <a:buAutoNum type="romanUcPeriod"/>
            </a:pPr>
            <a:r>
              <a:rPr lang="en-US" sz="2300" b="1">
                <a:solidFill>
                  <a:srgbClr val="1155CC"/>
                </a:solidFill>
                <a:latin typeface="Times New Roman" panose="02020603050405020304"/>
                <a:ea typeface="Times New Roman" panose="02020603050405020304"/>
                <a:cs typeface="Times New Roman" panose="02020603050405020304"/>
                <a:sym typeface="Times New Roman" panose="02020603050405020304"/>
              </a:rPr>
              <a:t>Thực Trạng &amp; Vấn Đề Hiện Tại</a:t>
            </a:r>
            <a:endParaRPr sz="2300" b="1">
              <a:solidFill>
                <a:srgbClr val="1155CC"/>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4"/>
          <p:cNvSpPr txBox="1"/>
          <p:nvPr/>
        </p:nvSpPr>
        <p:spPr>
          <a:xfrm>
            <a:off x="1256370" y="1417588"/>
            <a:ext cx="6631259" cy="2308324"/>
          </a:xfrm>
          <a:prstGeom prst="rect">
            <a:avLst/>
          </a:prstGeom>
          <a:noFill/>
        </p:spPr>
        <p:txBody>
          <a:bodyPr wrap="square" rtlCol="0">
            <a:spAutoFit/>
          </a:bodyPr>
          <a:lstStyle/>
          <a:p>
            <a:r>
              <a:rPr lang="en-US" sz="2400" b="1">
                <a:solidFill>
                  <a:schemeClr val="bg1"/>
                </a:solidFill>
                <a:latin typeface="Times New Roman" panose="02020603050405020304" pitchFamily="18" charset="0"/>
                <a:cs typeface="Times New Roman" panose="02020603050405020304" pitchFamily="18" charset="0"/>
              </a:rPr>
              <a:t>-</a:t>
            </a:r>
            <a:r>
              <a:rPr lang="vi-VN" sz="2400" b="1">
                <a:solidFill>
                  <a:schemeClr val="bg1"/>
                </a:solidFill>
                <a:latin typeface="Times New Roman" panose="02020603050405020304" pitchFamily="18" charset="0"/>
                <a:cs typeface="Times New Roman" panose="02020603050405020304" pitchFamily="18" charset="0"/>
              </a:rPr>
              <a:t>Thị trường:</a:t>
            </a:r>
            <a:r>
              <a:rPr lang="vi-VN" sz="2400">
                <a:solidFill>
                  <a:schemeClr val="bg1"/>
                </a:solidFill>
                <a:latin typeface="Times New Roman" panose="02020603050405020304" pitchFamily="18" charset="0"/>
                <a:cs typeface="Times New Roman" panose="02020603050405020304" pitchFamily="18" charset="0"/>
              </a:rPr>
              <a:t> Nhu cầu thiết bị âm thanh (loa Bluetooth, loa kiểm âm, soundbar) tăng cao nhưng khách hàng khó so sánh thông số kỹ thuật.</a:t>
            </a:r>
            <a:endParaRPr lang="en-US" sz="2400">
              <a:solidFill>
                <a:schemeClr val="bg1"/>
              </a:solidFill>
              <a:latin typeface="Times New Roman" panose="02020603050405020304" pitchFamily="18" charset="0"/>
              <a:cs typeface="Times New Roman" panose="02020603050405020304" pitchFamily="18" charset="0"/>
            </a:endParaRPr>
          </a:p>
          <a:p>
            <a:r>
              <a:rPr lang="en-US" sz="2400" b="1">
                <a:solidFill>
                  <a:schemeClr val="bg1"/>
                </a:solidFill>
                <a:latin typeface="Times New Roman" panose="02020603050405020304" pitchFamily="18" charset="0"/>
                <a:cs typeface="Times New Roman" panose="02020603050405020304" pitchFamily="18" charset="0"/>
              </a:rPr>
              <a:t>-</a:t>
            </a:r>
            <a:r>
              <a:rPr lang="vi-VN" sz="2400" b="1">
                <a:solidFill>
                  <a:schemeClr val="bg1"/>
                </a:solidFill>
                <a:latin typeface="Times New Roman" panose="02020603050405020304" pitchFamily="18" charset="0"/>
                <a:cs typeface="Times New Roman" panose="02020603050405020304" pitchFamily="18" charset="0"/>
              </a:rPr>
              <a:t>Trải nghiệm người dùng:</a:t>
            </a:r>
            <a:r>
              <a:rPr lang="vi-VN" sz="2400">
                <a:solidFill>
                  <a:schemeClr val="bg1"/>
                </a:solidFill>
                <a:latin typeface="Times New Roman" panose="02020603050405020304" pitchFamily="18" charset="0"/>
                <a:cs typeface="Times New Roman" panose="02020603050405020304" pitchFamily="18" charset="0"/>
              </a:rPr>
              <a:t> Nhiều trang web hiện nay có giao diện quá cũ kỹ, không tối ưu trên điện thoại</a:t>
            </a:r>
            <a:endParaRPr lang="vi-VN" sz="2400">
              <a:solidFill>
                <a:schemeClr val="bg1"/>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250">
        <p:wipe/>
      </p:transition>
    </mc:Choice>
    <mc:Fallback>
      <p:transition>
        <p:wip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pic>
        <p:nvPicPr>
          <p:cNvPr id="16" name="Picture 15" descr="A black rectangle with white text&#10;&#10;AI-generated content may be incorrect."/>
          <p:cNvPicPr>
            <a:picLocks noChangeAspect="1"/>
          </p:cNvPicPr>
          <p:nvPr/>
        </p:nvPicPr>
        <p:blipFill>
          <a:blip r:embed="rId1"/>
          <a:stretch>
            <a:fillRect/>
          </a:stretch>
        </p:blipFill>
        <p:spPr>
          <a:xfrm>
            <a:off x="0" y="0"/>
            <a:ext cx="9172404" cy="5143500"/>
          </a:xfrm>
          <a:prstGeom prst="rect">
            <a:avLst/>
          </a:prstGeom>
        </p:spPr>
      </p:pic>
      <p:sp>
        <p:nvSpPr>
          <p:cNvPr id="141" name="Google Shape;141;p14"/>
          <p:cNvSpPr txBox="1"/>
          <p:nvPr/>
        </p:nvSpPr>
        <p:spPr>
          <a:xfrm>
            <a:off x="0" y="405228"/>
            <a:ext cx="9144000" cy="605700"/>
          </a:xfrm>
          <a:prstGeom prst="rect">
            <a:avLst/>
          </a:prstGeom>
          <a:noFill/>
          <a:ln>
            <a:noFill/>
          </a:ln>
        </p:spPr>
        <p:txBody>
          <a:bodyPr spcFirstLastPara="1" wrap="square" lIns="91425" tIns="91425" rIns="91425" bIns="91425" anchor="t" anchorCtr="0">
            <a:noAutofit/>
          </a:bodyPr>
          <a:lstStyle/>
          <a:p>
            <a:pPr marL="82550" lvl="0" algn="ctr" rtl="0">
              <a:spcBef>
                <a:spcPts val="0"/>
              </a:spcBef>
              <a:spcAft>
                <a:spcPts val="0"/>
              </a:spcAft>
              <a:buClr>
                <a:srgbClr val="1155CC"/>
              </a:buClr>
              <a:buSzPts val="2300"/>
            </a:pPr>
            <a:r>
              <a:rPr lang="en-US" sz="2300" b="1">
                <a:solidFill>
                  <a:srgbClr val="1155CC"/>
                </a:solidFill>
                <a:latin typeface="Times New Roman" panose="02020603050405020304"/>
                <a:ea typeface="Times New Roman" panose="02020603050405020304"/>
                <a:cs typeface="Times New Roman" panose="02020603050405020304"/>
                <a:sym typeface="Times New Roman" panose="02020603050405020304"/>
              </a:rPr>
              <a:t>II. Lý Do Chọn Đề Tài</a:t>
            </a:r>
            <a:endParaRPr sz="2300" b="1">
              <a:solidFill>
                <a:srgbClr val="1155CC"/>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4"/>
          <p:cNvSpPr txBox="1"/>
          <p:nvPr/>
        </p:nvSpPr>
        <p:spPr>
          <a:xfrm>
            <a:off x="1270572" y="1416156"/>
            <a:ext cx="6631259" cy="1938992"/>
          </a:xfrm>
          <a:prstGeom prst="rect">
            <a:avLst/>
          </a:prstGeom>
          <a:noFill/>
        </p:spPr>
        <p:txBody>
          <a:bodyPr wrap="square" rtlCol="0">
            <a:spAutoFit/>
          </a:bodyPr>
          <a:lstStyle/>
          <a:p>
            <a:r>
              <a:rPr lang="en-US" sz="2000">
                <a:solidFill>
                  <a:schemeClr val="bg1"/>
                </a:solidFill>
                <a:latin typeface="+mj-lt"/>
              </a:rPr>
              <a:t>       </a:t>
            </a:r>
            <a:r>
              <a:rPr lang="vi-VN" sz="2000">
                <a:solidFill>
                  <a:schemeClr val="bg1"/>
                </a:solidFill>
                <a:latin typeface="+mj-lt"/>
              </a:rPr>
              <a:t>Đề tài được xác định thông qua phương thức bốc thăm tập trung. Tuy là một sự lựa chọn ngẫu nhiên, nhưng trang web bán sản phẩm công nghệ như loa lại rất phù hợp để triển khai các kỹ thuật Frontend hiện đại (như Flexbox và Grid), giúp tối ưu hóa việc trưng bày sản phẩm theo lưới, đúng với mục tiêu học tập và rèn luyện kỹ năng của tôi.</a:t>
            </a:r>
            <a:endParaRPr lang="vi-VN" sz="2000">
              <a:solidFill>
                <a:schemeClr val="bg1"/>
              </a:solidFill>
              <a:latin typeface="+mj-lt"/>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250">
        <p:wipe/>
      </p:transition>
    </mc:Choice>
    <mc:Fallback>
      <p:transition>
        <p:wip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pic>
        <p:nvPicPr>
          <p:cNvPr id="16" name="Picture 15" descr="A black rectangle with white text&#10;&#10;AI-generated content may be incorrect."/>
          <p:cNvPicPr>
            <a:picLocks noChangeAspect="1"/>
          </p:cNvPicPr>
          <p:nvPr/>
        </p:nvPicPr>
        <p:blipFill>
          <a:blip r:embed="rId1"/>
          <a:stretch>
            <a:fillRect/>
          </a:stretch>
        </p:blipFill>
        <p:spPr>
          <a:xfrm>
            <a:off x="0" y="0"/>
            <a:ext cx="9172404" cy="5143500"/>
          </a:xfrm>
          <a:prstGeom prst="rect">
            <a:avLst/>
          </a:prstGeom>
        </p:spPr>
      </p:pic>
      <p:sp>
        <p:nvSpPr>
          <p:cNvPr id="141" name="Google Shape;141;p14"/>
          <p:cNvSpPr txBox="1"/>
          <p:nvPr/>
        </p:nvSpPr>
        <p:spPr>
          <a:xfrm>
            <a:off x="0" y="405228"/>
            <a:ext cx="9144000" cy="605700"/>
          </a:xfrm>
          <a:prstGeom prst="rect">
            <a:avLst/>
          </a:prstGeom>
          <a:noFill/>
          <a:ln>
            <a:noFill/>
          </a:ln>
        </p:spPr>
        <p:txBody>
          <a:bodyPr spcFirstLastPara="1" wrap="square" lIns="91425" tIns="91425" rIns="91425" bIns="91425" anchor="t" anchorCtr="0">
            <a:noAutofit/>
          </a:bodyPr>
          <a:lstStyle/>
          <a:p>
            <a:pPr marL="82550" lvl="0" algn="ctr" rtl="0">
              <a:spcBef>
                <a:spcPts val="0"/>
              </a:spcBef>
              <a:spcAft>
                <a:spcPts val="0"/>
              </a:spcAft>
              <a:buClr>
                <a:srgbClr val="1155CC"/>
              </a:buClr>
              <a:buSzPts val="2300"/>
            </a:pPr>
            <a:r>
              <a:rPr lang="en-US" sz="2300" b="1">
                <a:solidFill>
                  <a:srgbClr val="1155CC"/>
                </a:solidFill>
                <a:latin typeface="Times New Roman" panose="02020603050405020304"/>
                <a:ea typeface="Times New Roman" panose="02020603050405020304"/>
                <a:cs typeface="Times New Roman" panose="02020603050405020304"/>
                <a:sym typeface="Times New Roman" panose="02020603050405020304"/>
              </a:rPr>
              <a:t>III. Mô Tả Bài Toán :</a:t>
            </a:r>
            <a:endParaRPr sz="2300" b="1">
              <a:solidFill>
                <a:srgbClr val="1155CC"/>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4"/>
          <p:cNvSpPr txBox="1"/>
          <p:nvPr/>
        </p:nvSpPr>
        <p:spPr>
          <a:xfrm>
            <a:off x="396727" y="1416156"/>
            <a:ext cx="8378950" cy="3108543"/>
          </a:xfrm>
          <a:prstGeom prst="rect">
            <a:avLst/>
          </a:prstGeom>
          <a:noFill/>
        </p:spPr>
        <p:txBody>
          <a:bodyPr wrap="square" rtlCol="0">
            <a:spAutoFit/>
          </a:bodyPr>
          <a:lstStyle/>
          <a:p>
            <a:r>
              <a:rPr lang="en-US" sz="1400">
                <a:solidFill>
                  <a:schemeClr val="bg1"/>
                </a:solidFill>
                <a:latin typeface="Times New Roman" panose="02020603050405020304" pitchFamily="18" charset="0"/>
                <a:cs typeface="Times New Roman" panose="02020603050405020304" pitchFamily="18" charset="0"/>
              </a:rPr>
              <a:t>-</a:t>
            </a:r>
            <a:r>
              <a:rPr lang="vi-VN" sz="1400">
                <a:solidFill>
                  <a:schemeClr val="bg1"/>
                </a:solidFill>
                <a:latin typeface="Times New Roman" panose="02020603050405020304" pitchFamily="18" charset="0"/>
                <a:cs typeface="Times New Roman" panose="02020603050405020304" pitchFamily="18" charset="0"/>
              </a:rPr>
              <a:t>Xây dựng hệ thống mua bán loa trực tuyến trên website, giúp người dùng có thể dễ dàng đặt mua loa từ xa, qua đó giúp người bán có thể thu hút nhiều tệp khách hàng hơn.</a:t>
            </a:r>
            <a:endParaRPr lang="en-US" sz="1400">
              <a:solidFill>
                <a:schemeClr val="bg1"/>
              </a:solidFill>
              <a:latin typeface="Times New Roman" panose="02020603050405020304" pitchFamily="18" charset="0"/>
              <a:cs typeface="Times New Roman" panose="02020603050405020304" pitchFamily="18" charset="0"/>
            </a:endParaRPr>
          </a:p>
          <a:p>
            <a:endParaRPr lang="en-US" sz="1400">
              <a:solidFill>
                <a:schemeClr val="bg1"/>
              </a:solidFill>
              <a:latin typeface="Times New Roman" panose="02020603050405020304" pitchFamily="18" charset="0"/>
              <a:cs typeface="Times New Roman" panose="02020603050405020304" pitchFamily="18" charset="0"/>
            </a:endParaRPr>
          </a:p>
          <a:p>
            <a:r>
              <a:rPr lang="en-US" sz="1400">
                <a:solidFill>
                  <a:schemeClr val="bg1"/>
                </a:solidFill>
                <a:latin typeface="Times New Roman" panose="02020603050405020304" pitchFamily="18" charset="0"/>
                <a:cs typeface="Times New Roman" panose="02020603050405020304" pitchFamily="18" charset="0"/>
              </a:rPr>
              <a:t>-</a:t>
            </a:r>
            <a:r>
              <a:rPr lang="en-US" sz="1400" b="0" i="0">
                <a:solidFill>
                  <a:schemeClr val="bg1"/>
                </a:solidFill>
                <a:effectLst/>
                <a:latin typeface="Times New Roman" panose="02020603050405020304" pitchFamily="18" charset="0"/>
                <a:cs typeface="Times New Roman" panose="02020603050405020304" pitchFamily="18" charset="0"/>
              </a:rPr>
              <a:t>Hệ thống đảm bảo thông tin riêng của từng khách hàng qua hệ thống đăng nhập, khách hàng có thể xem sản phẩm bày bán qua các trang mô tả và tiến hành đặt hàng, thanh toán.</a:t>
            </a:r>
            <a:endParaRPr lang="en-US" sz="1400" b="0" i="0">
              <a:solidFill>
                <a:schemeClr val="bg1"/>
              </a:solidFill>
              <a:effectLst/>
              <a:latin typeface="Times New Roman" panose="02020603050405020304" pitchFamily="18" charset="0"/>
              <a:cs typeface="Times New Roman" panose="02020603050405020304" pitchFamily="18" charset="0"/>
            </a:endParaRPr>
          </a:p>
          <a:p>
            <a:endParaRPr lang="en-US" sz="1400" b="0" i="0">
              <a:solidFill>
                <a:schemeClr val="bg1"/>
              </a:solidFill>
              <a:effectLst/>
              <a:latin typeface="Times New Roman" panose="02020603050405020304" pitchFamily="18" charset="0"/>
              <a:cs typeface="Times New Roman" panose="02020603050405020304" pitchFamily="18" charset="0"/>
            </a:endParaRPr>
          </a:p>
          <a:p>
            <a:r>
              <a:rPr lang="en-US" sz="1400">
                <a:solidFill>
                  <a:schemeClr val="bg1"/>
                </a:solidFill>
                <a:latin typeface="Times New Roman" panose="02020603050405020304" pitchFamily="18" charset="0"/>
                <a:cs typeface="Times New Roman" panose="02020603050405020304" pitchFamily="18" charset="0"/>
              </a:rPr>
              <a:t>-</a:t>
            </a:r>
            <a:r>
              <a:rPr lang="vi-VN" sz="1400" b="0" i="0">
                <a:solidFill>
                  <a:schemeClr val="bg1"/>
                </a:solidFill>
                <a:effectLst/>
                <a:latin typeface="Times New Roman" panose="02020603050405020304" pitchFamily="18" charset="0"/>
                <a:cs typeface="Times New Roman" panose="02020603050405020304" pitchFamily="18" charset="0"/>
              </a:rPr>
              <a:t>Hệ thống có chức năng hiển thị mô tả danh sách sản phẩm được người bán quản lý, giá bán của các sản phẩm; lưu thông tin đăng nhập, phiên đăng nhập, của khách hàng, hóa đơn trực tuyến.</a:t>
            </a:r>
            <a:endParaRPr lang="en-US" sz="1400" b="0" i="0">
              <a:solidFill>
                <a:schemeClr val="bg1"/>
              </a:solidFill>
              <a:effectLst/>
              <a:latin typeface="Times New Roman" panose="02020603050405020304" pitchFamily="18" charset="0"/>
              <a:cs typeface="Times New Roman" panose="02020603050405020304" pitchFamily="18" charset="0"/>
            </a:endParaRPr>
          </a:p>
          <a:p>
            <a:endParaRPr lang="en-US" sz="1400" b="0" i="0">
              <a:solidFill>
                <a:schemeClr val="bg1"/>
              </a:solidFill>
              <a:effectLst/>
              <a:latin typeface="Times New Roman" panose="02020603050405020304" pitchFamily="18" charset="0"/>
              <a:cs typeface="Times New Roman" panose="02020603050405020304" pitchFamily="18" charset="0"/>
            </a:endParaRPr>
          </a:p>
          <a:p>
            <a:r>
              <a:rPr lang="en-US" sz="1400">
                <a:solidFill>
                  <a:schemeClr val="bg1"/>
                </a:solidFill>
                <a:latin typeface="Times New Roman" panose="02020603050405020304" pitchFamily="18" charset="0"/>
                <a:cs typeface="Times New Roman" panose="02020603050405020304" pitchFamily="18" charset="0"/>
              </a:rPr>
              <a:t>-</a:t>
            </a:r>
            <a:r>
              <a:rPr lang="vi-VN" sz="1400" b="0" i="0">
                <a:solidFill>
                  <a:schemeClr val="bg1"/>
                </a:solidFill>
                <a:effectLst/>
                <a:latin typeface="Times New Roman" panose="02020603050405020304" pitchFamily="18" charset="0"/>
                <a:cs typeface="Times New Roman" panose="02020603050405020304" pitchFamily="18" charset="0"/>
              </a:rPr>
              <a:t>Người quản lý có thể xem thông tin đơn hàng của khách hàng, thông tin cá nhân (địa chỉ, số điện thoại,...) được khách hàng cung cấp để tiến hành giao hàng, quản lý thông tin khách hàng thông qua lưu trữ của hệ thống. </a:t>
            </a:r>
            <a:endParaRPr lang="en-US" sz="1400" b="0" i="0">
              <a:solidFill>
                <a:schemeClr val="bg1"/>
              </a:solidFill>
              <a:effectLst/>
              <a:latin typeface="Times New Roman" panose="02020603050405020304" pitchFamily="18" charset="0"/>
              <a:cs typeface="Times New Roman" panose="02020603050405020304" pitchFamily="18" charset="0"/>
            </a:endParaRPr>
          </a:p>
          <a:p>
            <a:endParaRPr lang="en-US" sz="1400" b="0" i="0">
              <a:solidFill>
                <a:schemeClr val="bg1"/>
              </a:solidFill>
              <a:effectLst/>
              <a:latin typeface="Times New Roman" panose="02020603050405020304" pitchFamily="18" charset="0"/>
              <a:cs typeface="Times New Roman" panose="02020603050405020304" pitchFamily="18" charset="0"/>
            </a:endParaRPr>
          </a:p>
          <a:p>
            <a:r>
              <a:rPr lang="en-US" sz="1400" b="0" i="0">
                <a:solidFill>
                  <a:schemeClr val="bg1"/>
                </a:solidFill>
                <a:effectLst/>
                <a:latin typeface="Times New Roman" panose="02020603050405020304" pitchFamily="18" charset="0"/>
                <a:cs typeface="Times New Roman" panose="02020603050405020304" pitchFamily="18" charset="0"/>
              </a:rPr>
              <a:t>-</a:t>
            </a:r>
            <a:r>
              <a:rPr lang="vi-VN" sz="1400" b="0" i="0">
                <a:solidFill>
                  <a:schemeClr val="bg1"/>
                </a:solidFill>
                <a:effectLst/>
                <a:latin typeface="Times New Roman" panose="02020603050405020304" pitchFamily="18" charset="0"/>
                <a:cs typeface="Times New Roman" panose="02020603050405020304" pitchFamily="18" charset="0"/>
              </a:rPr>
              <a:t>Hệ thống được thiết kế đơn giản, dễ dùng để người dùng có thể dễ dàng tiến hành đặt hàng, người bán có thể dễ dàng quản lý các đơn hàng của mình, nhưng vẫn đảm bảo được tính thẩm mĩ của trang web.</a:t>
            </a:r>
            <a:endParaRPr lang="vi-VN" sz="1400" b="0" i="0">
              <a:solidFill>
                <a:schemeClr val="bg1"/>
              </a:solidFill>
              <a:effectLst/>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250">
        <p:wipe/>
      </p:transition>
    </mc:Choice>
    <mc:Fallback>
      <p:transition>
        <p:wip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pic>
        <p:nvPicPr>
          <p:cNvPr id="16" name="Picture 15" descr="A black rectangle with white text&#10;&#10;AI-generated content may be incorrect."/>
          <p:cNvPicPr>
            <a:picLocks noChangeAspect="1"/>
          </p:cNvPicPr>
          <p:nvPr/>
        </p:nvPicPr>
        <p:blipFill>
          <a:blip r:embed="rId1"/>
          <a:stretch>
            <a:fillRect/>
          </a:stretch>
        </p:blipFill>
        <p:spPr>
          <a:xfrm>
            <a:off x="0" y="0"/>
            <a:ext cx="9172404" cy="5143500"/>
          </a:xfrm>
          <a:prstGeom prst="rect">
            <a:avLst/>
          </a:prstGeom>
        </p:spPr>
      </p:pic>
      <p:sp>
        <p:nvSpPr>
          <p:cNvPr id="141" name="Google Shape;141;p14"/>
          <p:cNvSpPr txBox="1"/>
          <p:nvPr/>
        </p:nvSpPr>
        <p:spPr>
          <a:xfrm>
            <a:off x="0" y="405228"/>
            <a:ext cx="9144000" cy="605700"/>
          </a:xfrm>
          <a:prstGeom prst="rect">
            <a:avLst/>
          </a:prstGeom>
          <a:noFill/>
          <a:ln>
            <a:noFill/>
          </a:ln>
        </p:spPr>
        <p:txBody>
          <a:bodyPr spcFirstLastPara="1" wrap="square" lIns="91425" tIns="91425" rIns="91425" bIns="91425" anchor="t" anchorCtr="0">
            <a:noAutofit/>
          </a:bodyPr>
          <a:lstStyle/>
          <a:p>
            <a:pPr marL="82550" lvl="0" algn="ctr" rtl="0">
              <a:spcBef>
                <a:spcPts val="0"/>
              </a:spcBef>
              <a:spcAft>
                <a:spcPts val="0"/>
              </a:spcAft>
              <a:buClr>
                <a:srgbClr val="1155CC"/>
              </a:buClr>
              <a:buSzPts val="2300"/>
            </a:pPr>
            <a:r>
              <a:rPr lang="en-US" sz="2300" b="1">
                <a:solidFill>
                  <a:srgbClr val="1155CC"/>
                </a:solidFill>
                <a:latin typeface="Times New Roman" panose="02020603050405020304"/>
                <a:ea typeface="Times New Roman" panose="02020603050405020304"/>
                <a:cs typeface="Times New Roman" panose="02020603050405020304"/>
                <a:sym typeface="Times New Roman" panose="02020603050405020304"/>
              </a:rPr>
              <a:t>IV. Phạm Vi Báo Cáo và Cơ Sở Lý Luận</a:t>
            </a:r>
            <a:endParaRPr sz="2300" b="1">
              <a:solidFill>
                <a:srgbClr val="1155CC"/>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4"/>
          <p:cNvSpPr txBox="1"/>
          <p:nvPr/>
        </p:nvSpPr>
        <p:spPr>
          <a:xfrm>
            <a:off x="1270572" y="1416156"/>
            <a:ext cx="6631259" cy="3477875"/>
          </a:xfrm>
          <a:prstGeom prst="rect">
            <a:avLst/>
          </a:prstGeom>
          <a:noFill/>
        </p:spPr>
        <p:txBody>
          <a:bodyPr wrap="square" rtlCol="0">
            <a:spAutoFit/>
          </a:bodyPr>
          <a:lstStyle/>
          <a:p>
            <a:pPr marL="342900" indent="-342900">
              <a:buFontTx/>
              <a:buChar char="-"/>
            </a:pPr>
            <a:r>
              <a:rPr lang="en-US" sz="2000">
                <a:solidFill>
                  <a:schemeClr val="bg1"/>
                </a:solidFill>
                <a:latin typeface="+mj-lt"/>
                <a:cs typeface="Times New Roman" panose="02020603050405020304" pitchFamily="18" charset="0"/>
              </a:rPr>
              <a:t>Dùng những kiến thức đã được học ở trên lớp :</a:t>
            </a:r>
            <a:endParaRPr lang="en-US" sz="2000">
              <a:solidFill>
                <a:schemeClr val="bg1"/>
              </a:solidFill>
              <a:latin typeface="+mj-lt"/>
              <a:cs typeface="Times New Roman" panose="02020603050405020304" pitchFamily="18" charset="0"/>
            </a:endParaRPr>
          </a:p>
          <a:p>
            <a:r>
              <a:rPr lang="en-US" sz="2000">
                <a:solidFill>
                  <a:schemeClr val="bg1"/>
                </a:solidFill>
                <a:latin typeface="+mj-lt"/>
                <a:cs typeface="Times New Roman" panose="02020603050405020304" pitchFamily="18" charset="0"/>
              </a:rPr>
              <a:t>	+HTML (Cấu Trúc)</a:t>
            </a:r>
            <a:endParaRPr lang="en-US" sz="2000">
              <a:solidFill>
                <a:schemeClr val="bg1"/>
              </a:solidFill>
              <a:latin typeface="+mj-lt"/>
              <a:cs typeface="Times New Roman" panose="02020603050405020304" pitchFamily="18" charset="0"/>
            </a:endParaRPr>
          </a:p>
          <a:p>
            <a:r>
              <a:rPr lang="en-US" sz="2000">
                <a:solidFill>
                  <a:schemeClr val="bg1"/>
                </a:solidFill>
                <a:latin typeface="+mj-lt"/>
                <a:cs typeface="Times New Roman" panose="02020603050405020304" pitchFamily="18" charset="0"/>
              </a:rPr>
              <a:t>	+CSS (Định Dạng và Layout)</a:t>
            </a:r>
            <a:endParaRPr lang="en-US" sz="2000">
              <a:solidFill>
                <a:schemeClr val="bg1"/>
              </a:solidFill>
              <a:latin typeface="+mj-lt"/>
              <a:cs typeface="Times New Roman" panose="02020603050405020304" pitchFamily="18" charset="0"/>
            </a:endParaRPr>
          </a:p>
          <a:p>
            <a:r>
              <a:rPr lang="en-US" sz="2000">
                <a:solidFill>
                  <a:schemeClr val="bg1"/>
                </a:solidFill>
                <a:latin typeface="+mj-lt"/>
                <a:cs typeface="Times New Roman" panose="02020603050405020304" pitchFamily="18" charset="0"/>
              </a:rPr>
              <a:t>	+JavaScript (Xử lý sự kiện cơ bản)</a:t>
            </a:r>
            <a:endParaRPr lang="en-US" sz="2000">
              <a:solidFill>
                <a:schemeClr val="bg1"/>
              </a:solidFill>
              <a:latin typeface="+mj-lt"/>
              <a:cs typeface="Times New Roman" panose="02020603050405020304" pitchFamily="18" charset="0"/>
            </a:endParaRPr>
          </a:p>
          <a:p>
            <a:pPr marL="342900" indent="-342900">
              <a:buFontTx/>
              <a:buChar char="-"/>
            </a:pPr>
            <a:r>
              <a:rPr lang="en-US" sz="2000">
                <a:solidFill>
                  <a:schemeClr val="bg1"/>
                </a:solidFill>
                <a:latin typeface="+mj-lt"/>
                <a:cs typeface="Times New Roman" panose="02020603050405020304" pitchFamily="18" charset="0"/>
              </a:rPr>
              <a:t>Tính năng trang web:</a:t>
            </a:r>
            <a:endParaRPr lang="en-US" sz="2000">
              <a:solidFill>
                <a:schemeClr val="bg1"/>
              </a:solidFill>
              <a:latin typeface="+mj-lt"/>
              <a:cs typeface="Times New Roman" panose="02020603050405020304" pitchFamily="18" charset="0"/>
            </a:endParaRPr>
          </a:p>
          <a:p>
            <a:r>
              <a:rPr lang="en-US" sz="2000">
                <a:solidFill>
                  <a:schemeClr val="bg1"/>
                </a:solidFill>
                <a:latin typeface="+mj-lt"/>
                <a:cs typeface="Times New Roman" panose="02020603050405020304" pitchFamily="18" charset="0"/>
              </a:rPr>
              <a:t>	+Trang chủ (Trưng bày sản phẩm nổi bật)</a:t>
            </a:r>
            <a:endParaRPr lang="en-US" sz="2000">
              <a:solidFill>
                <a:schemeClr val="bg1"/>
              </a:solidFill>
              <a:latin typeface="+mj-lt"/>
              <a:cs typeface="Times New Roman" panose="02020603050405020304" pitchFamily="18" charset="0"/>
            </a:endParaRPr>
          </a:p>
          <a:p>
            <a:r>
              <a:rPr lang="en-US" sz="2000">
                <a:solidFill>
                  <a:schemeClr val="bg1"/>
                </a:solidFill>
                <a:latin typeface="+mj-lt"/>
                <a:cs typeface="Times New Roman" panose="02020603050405020304" pitchFamily="18" charset="0"/>
              </a:rPr>
              <a:t>	+Danh mục sản phẩm (Bộ lọc theo loại sản phẩm)</a:t>
            </a:r>
            <a:endParaRPr lang="en-US" sz="2000">
              <a:solidFill>
                <a:schemeClr val="bg1"/>
              </a:solidFill>
              <a:latin typeface="+mj-lt"/>
              <a:cs typeface="Times New Roman" panose="02020603050405020304" pitchFamily="18" charset="0"/>
            </a:endParaRPr>
          </a:p>
          <a:p>
            <a:r>
              <a:rPr lang="en-US" sz="2000">
                <a:solidFill>
                  <a:schemeClr val="bg1"/>
                </a:solidFill>
                <a:latin typeface="+mj-lt"/>
                <a:cs typeface="Times New Roman" panose="02020603050405020304" pitchFamily="18" charset="0"/>
              </a:rPr>
              <a:t>	+Chi tiết sản phẩm (Mô tả, thông số kỹ thuật, giá cả)</a:t>
            </a:r>
            <a:endParaRPr lang="en-US" sz="2000">
              <a:solidFill>
                <a:schemeClr val="bg1"/>
              </a:solidFill>
              <a:latin typeface="+mj-lt"/>
              <a:cs typeface="Times New Roman" panose="02020603050405020304" pitchFamily="18" charset="0"/>
            </a:endParaRPr>
          </a:p>
          <a:p>
            <a:r>
              <a:rPr lang="en-US" sz="2000">
                <a:solidFill>
                  <a:schemeClr val="bg1"/>
                </a:solidFill>
                <a:latin typeface="+mj-lt"/>
                <a:cs typeface="Times New Roman" panose="02020603050405020304" pitchFamily="18" charset="0"/>
              </a:rPr>
              <a:t>	+Giỏ hang và thanh toán</a:t>
            </a:r>
            <a:endParaRPr lang="en-US" sz="2000">
              <a:solidFill>
                <a:schemeClr val="bg1"/>
              </a:solidFill>
              <a:latin typeface="+mj-lt"/>
              <a:cs typeface="Times New Roman" panose="02020603050405020304" pitchFamily="18" charset="0"/>
            </a:endParaRPr>
          </a:p>
          <a:p>
            <a:r>
              <a:rPr lang="en-US" sz="2000">
                <a:solidFill>
                  <a:schemeClr val="bg1"/>
                </a:solidFill>
                <a:latin typeface="+mj-lt"/>
                <a:cs typeface="Times New Roman" panose="02020603050405020304" pitchFamily="18" charset="0"/>
              </a:rPr>
              <a:t>	+Tương thích được trên cả mobile và desktop</a:t>
            </a:r>
            <a:endParaRPr lang="en-US" sz="2000">
              <a:solidFill>
                <a:schemeClr val="bg1"/>
              </a:solidFill>
              <a:latin typeface="+mj-lt"/>
              <a:cs typeface="Times New Roman" panose="02020603050405020304" pitchFamily="18" charset="0"/>
            </a:endParaRPr>
          </a:p>
          <a:p>
            <a:endParaRPr lang="en-US" sz="2000">
              <a:solidFill>
                <a:schemeClr val="bg1"/>
              </a:solidFill>
              <a:latin typeface="+mj-lt"/>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250">
        <p:wipe/>
      </p:transition>
    </mc:Choice>
    <mc:Fallback>
      <p:transition>
        <p:wip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pic>
        <p:nvPicPr>
          <p:cNvPr id="16" name="Picture 15" descr="A black rectangle with white text&#10;&#10;AI-generated content may be incorrect."/>
          <p:cNvPicPr>
            <a:picLocks noChangeAspect="1"/>
          </p:cNvPicPr>
          <p:nvPr/>
        </p:nvPicPr>
        <p:blipFill>
          <a:blip r:embed="rId1"/>
          <a:stretch>
            <a:fillRect/>
          </a:stretch>
        </p:blipFill>
        <p:spPr>
          <a:xfrm>
            <a:off x="0" y="0"/>
            <a:ext cx="9172404" cy="5143500"/>
          </a:xfrm>
          <a:prstGeom prst="rect">
            <a:avLst/>
          </a:prstGeom>
        </p:spPr>
      </p:pic>
      <p:sp>
        <p:nvSpPr>
          <p:cNvPr id="141" name="Google Shape;141;p14"/>
          <p:cNvSpPr txBox="1"/>
          <p:nvPr/>
        </p:nvSpPr>
        <p:spPr>
          <a:xfrm>
            <a:off x="0" y="405228"/>
            <a:ext cx="9144000" cy="605700"/>
          </a:xfrm>
          <a:prstGeom prst="rect">
            <a:avLst/>
          </a:prstGeom>
          <a:noFill/>
          <a:ln>
            <a:noFill/>
          </a:ln>
        </p:spPr>
        <p:txBody>
          <a:bodyPr spcFirstLastPara="1" wrap="square" lIns="91425" tIns="91425" rIns="91425" bIns="91425" anchor="t" anchorCtr="0">
            <a:noAutofit/>
          </a:bodyPr>
          <a:lstStyle/>
          <a:p>
            <a:pPr marL="82550" lvl="0" algn="ctr" rtl="0">
              <a:spcBef>
                <a:spcPts val="0"/>
              </a:spcBef>
              <a:spcAft>
                <a:spcPts val="0"/>
              </a:spcAft>
              <a:buClr>
                <a:srgbClr val="1155CC"/>
              </a:buClr>
              <a:buSzPts val="2300"/>
            </a:pPr>
            <a:r>
              <a:rPr lang="en-US" sz="2300" b="1">
                <a:solidFill>
                  <a:srgbClr val="1155CC"/>
                </a:solidFill>
                <a:latin typeface="Times New Roman" panose="02020603050405020304"/>
                <a:ea typeface="Times New Roman" panose="02020603050405020304"/>
                <a:cs typeface="Times New Roman" panose="02020603050405020304"/>
                <a:sym typeface="Times New Roman" panose="02020603050405020304"/>
              </a:rPr>
              <a:t>V. Tổng quan sản phẩm :</a:t>
            </a:r>
            <a:endParaRPr sz="2300" b="1">
              <a:solidFill>
                <a:srgbClr val="1155CC"/>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3" name="Picture 2"/>
          <p:cNvPicPr>
            <a:picLocks noChangeAspect="1"/>
          </p:cNvPicPr>
          <p:nvPr/>
        </p:nvPicPr>
        <p:blipFill>
          <a:blip r:embed="rId2"/>
          <a:stretch>
            <a:fillRect/>
          </a:stretch>
        </p:blipFill>
        <p:spPr>
          <a:xfrm>
            <a:off x="320076" y="1473473"/>
            <a:ext cx="3570822" cy="1986244"/>
          </a:xfrm>
          <a:prstGeom prst="rect">
            <a:avLst/>
          </a:prstGeom>
        </p:spPr>
      </p:pic>
      <p:pic>
        <p:nvPicPr>
          <p:cNvPr id="8" name="Picture 7"/>
          <p:cNvPicPr>
            <a:picLocks noChangeAspect="1"/>
          </p:cNvPicPr>
          <p:nvPr/>
        </p:nvPicPr>
        <p:blipFill>
          <a:blip r:embed="rId3"/>
          <a:stretch>
            <a:fillRect/>
          </a:stretch>
        </p:blipFill>
        <p:spPr>
          <a:xfrm>
            <a:off x="5012922" y="1473473"/>
            <a:ext cx="3570822" cy="1986244"/>
          </a:xfrm>
          <a:prstGeom prst="rect">
            <a:avLst/>
          </a:prstGeom>
        </p:spPr>
      </p:pic>
      <p:sp>
        <p:nvSpPr>
          <p:cNvPr id="9" name="Google Shape;141;p14">
            <a:hlinkClick r:id="rId4"/>
          </p:cNvPr>
          <p:cNvSpPr txBox="1"/>
          <p:nvPr/>
        </p:nvSpPr>
        <p:spPr>
          <a:xfrm>
            <a:off x="0" y="3998758"/>
            <a:ext cx="9172404" cy="605700"/>
          </a:xfrm>
          <a:prstGeom prst="rect">
            <a:avLst/>
          </a:prstGeom>
          <a:noFill/>
          <a:ln>
            <a:noFill/>
          </a:ln>
        </p:spPr>
        <p:txBody>
          <a:bodyPr spcFirstLastPara="1" wrap="square" lIns="91425" tIns="91425" rIns="91425" bIns="91425" anchor="t" anchorCtr="0">
            <a:noAutofit/>
          </a:bodyPr>
          <a:lstStyle/>
          <a:p>
            <a:pPr marL="82550" lvl="0" algn="ctr" rtl="0">
              <a:spcBef>
                <a:spcPts val="0"/>
              </a:spcBef>
              <a:spcAft>
                <a:spcPts val="0"/>
              </a:spcAft>
              <a:buClr>
                <a:srgbClr val="1155CC"/>
              </a:buClr>
              <a:buSzPts val="2300"/>
            </a:pPr>
            <a:r>
              <a:rPr lang="en-US" sz="2300" b="1" u="sng">
                <a:solidFill>
                  <a:srgbClr val="1155CC"/>
                </a:solidFill>
                <a:latin typeface="Times New Roman" panose="02020603050405020304"/>
                <a:ea typeface="Times New Roman" panose="02020603050405020304"/>
                <a:cs typeface="Times New Roman" panose="02020603050405020304"/>
                <a:sym typeface="Times New Roman" panose="02020603050405020304"/>
              </a:rPr>
              <a:t>Sản phẩm chi tiết ở đây !!!</a:t>
            </a:r>
            <a:endParaRPr sz="2300" b="1" u="sng">
              <a:solidFill>
                <a:srgbClr val="1155CC"/>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mc:AlternateContent xmlns:mc="http://schemas.openxmlformats.org/markup-compatibility/2006">
    <mc:Choice xmlns:p14="http://schemas.microsoft.com/office/powerpoint/2010/main" Requires="p14">
      <p:transition p14:dur="250">
        <p:wipe/>
      </p:transition>
    </mc:Choice>
    <mc:Fallback>
      <p:transition>
        <p:wip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2350</Words>
  <Application>WPS Presentation</Application>
  <PresentationFormat>On-screen Show (16:9)</PresentationFormat>
  <Paragraphs>59</Paragraphs>
  <Slides>7</Slides>
  <Notes>7</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7</vt:i4>
      </vt:variant>
    </vt:vector>
  </HeadingPairs>
  <TitlesOfParts>
    <vt:vector size="21" baseType="lpstr">
      <vt:lpstr>Arial</vt:lpstr>
      <vt:lpstr>SimSun</vt:lpstr>
      <vt:lpstr>Wingdings</vt:lpstr>
      <vt:lpstr>Arial</vt:lpstr>
      <vt:lpstr>Times New Roman</vt:lpstr>
      <vt:lpstr>Times New Roman</vt:lpstr>
      <vt:lpstr>Microsoft YaHei</vt:lpstr>
      <vt:lpstr>Arial Unicode MS</vt:lpstr>
      <vt:lpstr>Aptos Display</vt:lpstr>
      <vt:lpstr>Segoe UI Variable Display</vt:lpstr>
      <vt:lpstr>Aptos</vt:lpstr>
      <vt:lpstr>Segoe UI</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Hân Cter</cp:lastModifiedBy>
  <cp:revision>17</cp:revision>
  <dcterms:created xsi:type="dcterms:W3CDTF">2026-03-25T11:55:00Z</dcterms:created>
  <dcterms:modified xsi:type="dcterms:W3CDTF">2026-04-02T05:36:31Z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2CF1387D938847BEB27D1CAB9599F6F4_12</vt:lpwstr>
  </property>
  <property fmtid="{D5CDD505-2E9C-101B-9397-08002B2CF9AE}" pid="3" name="KSOProductBuildVer">
    <vt:lpwstr>1033-12.2.0.22530</vt:lpwstr>
  </property>
</Properties>
</file>